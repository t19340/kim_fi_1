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68" r:id="rId2"/>
    <p:sldId id="298" r:id="rId3"/>
    <p:sldId id="300" r:id="rId4"/>
    <p:sldId id="299" r:id="rId5"/>
    <p:sldId id="303" r:id="rId6"/>
    <p:sldId id="302" r:id="rId7"/>
    <p:sldId id="293" r:id="rId8"/>
    <p:sldId id="297" r:id="rId9"/>
    <p:sldId id="296" r:id="rId10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90BF"/>
    <a:srgbClr val="F2F2F2"/>
    <a:srgbClr val="BEDB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70" autoAdjust="0"/>
    <p:restoredTop sz="96391" autoAdjust="0"/>
  </p:normalViewPr>
  <p:slideViewPr>
    <p:cSldViewPr snapToGrid="0">
      <p:cViewPr varScale="1">
        <p:scale>
          <a:sx n="105" d="100"/>
          <a:sy n="105" d="100"/>
        </p:scale>
        <p:origin x="159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13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99A2A2-65C3-4F9A-8D7E-30BCABD3DD8C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3C36D4-C0A3-4FFD-934A-4243D20541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605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876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5174" y="953753"/>
            <a:ext cx="8543925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cxnSp>
        <p:nvCxnSpPr>
          <p:cNvPr id="18" name="직선 연결선[R] 15">
            <a:extLst>
              <a:ext uri="{FF2B5EF4-FFF2-40B4-BE49-F238E27FC236}">
                <a16:creationId xmlns:a16="http://schemas.microsoft.com/office/drawing/2014/main" id="{9E14AADD-E9B1-0973-815D-97397493218C}"/>
              </a:ext>
            </a:extLst>
          </p:cNvPr>
          <p:cNvCxnSpPr/>
          <p:nvPr userDrawn="1"/>
        </p:nvCxnSpPr>
        <p:spPr>
          <a:xfrm>
            <a:off x="287501" y="4269247"/>
            <a:ext cx="9179270" cy="0"/>
          </a:xfrm>
          <a:prstGeom prst="line">
            <a:avLst/>
          </a:prstGeom>
          <a:ln w="12700">
            <a:solidFill>
              <a:srgbClr val="6391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D5291AA0-DF20-DB35-331D-FCC312D859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4527" y="339777"/>
            <a:ext cx="1073150" cy="165100"/>
          </a:xfrm>
          <a:prstGeom prst="rect">
            <a:avLst/>
          </a:prstGeom>
        </p:spPr>
      </p:pic>
      <p:cxnSp>
        <p:nvCxnSpPr>
          <p:cNvPr id="22" name="직선 연결선[R] 8">
            <a:extLst>
              <a:ext uri="{FF2B5EF4-FFF2-40B4-BE49-F238E27FC236}">
                <a16:creationId xmlns:a16="http://schemas.microsoft.com/office/drawing/2014/main" id="{DDD5FD5D-48FB-CC13-8405-DDB1937F5364}"/>
              </a:ext>
            </a:extLst>
          </p:cNvPr>
          <p:cNvCxnSpPr/>
          <p:nvPr userDrawn="1"/>
        </p:nvCxnSpPr>
        <p:spPr>
          <a:xfrm>
            <a:off x="287502" y="785931"/>
            <a:ext cx="738497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9">
            <a:extLst>
              <a:ext uri="{FF2B5EF4-FFF2-40B4-BE49-F238E27FC236}">
                <a16:creationId xmlns:a16="http://schemas.microsoft.com/office/drawing/2014/main" id="{32C39F8C-AC2D-9E37-EC57-8247F09E50F3}"/>
              </a:ext>
            </a:extLst>
          </p:cNvPr>
          <p:cNvCxnSpPr>
            <a:cxnSpLocks/>
          </p:cNvCxnSpPr>
          <p:nvPr userDrawn="1"/>
        </p:nvCxnSpPr>
        <p:spPr>
          <a:xfrm>
            <a:off x="7980872" y="785931"/>
            <a:ext cx="167280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텍스트 개체 틀 29"/>
          <p:cNvSpPr>
            <a:spLocks noGrp="1"/>
          </p:cNvSpPr>
          <p:nvPr>
            <p:ph type="body" sz="quarter" idx="13"/>
          </p:nvPr>
        </p:nvSpPr>
        <p:spPr>
          <a:xfrm>
            <a:off x="5253487" y="4366418"/>
            <a:ext cx="4213285" cy="259045"/>
          </a:xfrm>
          <a:noFill/>
        </p:spPr>
        <p:txBody>
          <a:bodyPr wrap="square" lIns="0" rIns="0" rtlCol="0">
            <a:spAutoFit/>
          </a:bodyPr>
          <a:lstStyle>
            <a:lvl1pPr marL="300600" indent="-228600">
              <a:lnSpc>
                <a:spcPts val="900"/>
              </a:lnSpc>
              <a:spcBef>
                <a:spcPts val="0"/>
              </a:spcBef>
              <a:buFont typeface="+mj-lt"/>
              <a:buAutoNum type="arabicPeriod"/>
              <a:defRPr kumimoji="1" lang="ko-KR" altLang="en-US" sz="900" baseline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243450" lvl="0" indent="-171450">
              <a:lnSpc>
                <a:spcPts val="1300"/>
              </a:lnSpc>
              <a:buClr>
                <a:schemeClr val="bg1">
                  <a:lumMod val="50000"/>
                </a:schemeClr>
              </a:buClr>
              <a:buSzPct val="100000"/>
              <a:buFont typeface="Pretendard" panose="02000503000000020004" pitchFamily="50" charset="-127"/>
              <a:buChar char="※"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32" name="텍스트 개체 틀 29"/>
          <p:cNvSpPr>
            <a:spLocks noGrp="1"/>
          </p:cNvSpPr>
          <p:nvPr>
            <p:ph type="body" sz="quarter" idx="14"/>
          </p:nvPr>
        </p:nvSpPr>
        <p:spPr>
          <a:xfrm>
            <a:off x="287502" y="6438128"/>
            <a:ext cx="2464324" cy="240066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80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lvl="0">
              <a:lnSpc>
                <a:spcPct val="120000"/>
              </a:lnSpc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33" name="텍스트 개체 틀 29"/>
          <p:cNvSpPr>
            <a:spLocks noGrp="1"/>
          </p:cNvSpPr>
          <p:nvPr>
            <p:ph type="body" sz="quarter" idx="15"/>
          </p:nvPr>
        </p:nvSpPr>
        <p:spPr>
          <a:xfrm>
            <a:off x="7831348" y="538145"/>
            <a:ext cx="1822330" cy="24468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900" b="1" smtClean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lvl="0" algn="r">
              <a:lnSpc>
                <a:spcPct val="110000"/>
              </a:lnSpc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36" name="텍스트 개체 틀 29"/>
          <p:cNvSpPr>
            <a:spLocks noGrp="1"/>
          </p:cNvSpPr>
          <p:nvPr>
            <p:ph type="body" sz="quarter" idx="16" hasCustomPrompt="1"/>
          </p:nvPr>
        </p:nvSpPr>
        <p:spPr>
          <a:xfrm>
            <a:off x="605174" y="3188640"/>
            <a:ext cx="3964670" cy="259045"/>
          </a:xfrm>
          <a:noFill/>
        </p:spPr>
        <p:txBody>
          <a:bodyPr wrap="square" lIns="0" rIns="0" rtlCol="0">
            <a:spAutoFit/>
          </a:bodyPr>
          <a:lstStyle>
            <a:lvl1pPr marL="72000" indent="0">
              <a:buNone/>
              <a:defRPr kumimoji="1" lang="ko-KR" altLang="en-US" sz="140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243450" lvl="0" indent="-171450">
              <a:lnSpc>
                <a:spcPts val="1300"/>
              </a:lnSpc>
              <a:buClr>
                <a:schemeClr val="bg1">
                  <a:lumMod val="50000"/>
                </a:schemeClr>
              </a:buClr>
              <a:buSzPct val="100000"/>
              <a:buFont typeface="Pretendard" panose="02000503000000020004" pitchFamily="50" charset="-127"/>
              <a:buChar char="※"/>
            </a:pPr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2874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(가로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4535C1-1A23-756D-C51A-5A253E679940}"/>
              </a:ext>
            </a:extLst>
          </p:cNvPr>
          <p:cNvSpPr/>
          <p:nvPr userDrawn="1"/>
        </p:nvSpPr>
        <p:spPr>
          <a:xfrm>
            <a:off x="0" y="1471700"/>
            <a:ext cx="9906000" cy="53863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33395" dist="38100" dir="10800000" algn="r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662" dirty="0"/>
          </a:p>
        </p:txBody>
      </p:sp>
      <p:sp>
        <p:nvSpPr>
          <p:cNvPr id="10" name="모서리가 둥근 직사각형 9"/>
          <p:cNvSpPr/>
          <p:nvPr userDrawn="1"/>
        </p:nvSpPr>
        <p:spPr>
          <a:xfrm>
            <a:off x="9092216" y="6546451"/>
            <a:ext cx="619380" cy="244492"/>
          </a:xfrm>
          <a:prstGeom prst="roundRect">
            <a:avLst>
              <a:gd name="adj" fmla="val 50000"/>
            </a:avLst>
          </a:prstGeom>
          <a:solidFill>
            <a:srgbClr val="7B401F"/>
          </a:solidFill>
          <a:ln>
            <a:solidFill>
              <a:srgbClr val="7B40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6484" y="6287524"/>
            <a:ext cx="9433032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2D048624-3396-312F-C991-A47E2BC95D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8485" y="137271"/>
            <a:ext cx="640740" cy="106790"/>
          </a:xfrm>
          <a:prstGeom prst="rect">
            <a:avLst/>
          </a:prstGeom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236484" y="137272"/>
            <a:ext cx="8543925" cy="701731"/>
          </a:xfrm>
          <a:noFill/>
        </p:spPr>
        <p:txBody>
          <a:bodyPr wrap="square" rtlCol="0">
            <a:spAutoFit/>
          </a:bodyPr>
          <a:lstStyle>
            <a:lvl1pPr>
              <a:defRPr lang="ko-KR" altLang="en-US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lvl="0"/>
            <a:r>
              <a:rPr lang="ko-KR" altLang="en-US"/>
              <a:t>마스터 제목 스타일 편집</a:t>
            </a:r>
          </a:p>
        </p:txBody>
      </p:sp>
      <p:sp>
        <p:nvSpPr>
          <p:cNvPr id="7" name="텍스트 개체 틀 29"/>
          <p:cNvSpPr>
            <a:spLocks noGrp="1"/>
          </p:cNvSpPr>
          <p:nvPr>
            <p:ph type="body" sz="quarter" idx="16"/>
          </p:nvPr>
        </p:nvSpPr>
        <p:spPr>
          <a:xfrm>
            <a:off x="236484" y="1534452"/>
            <a:ext cx="9178529" cy="2308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0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lvl="0"/>
            <a:r>
              <a:rPr lang="ko-KR" altLang="en-US"/>
              <a:t>마스터 텍스트 스타일 편집</a:t>
            </a:r>
          </a:p>
        </p:txBody>
      </p:sp>
      <p:sp>
        <p:nvSpPr>
          <p:cNvPr id="18" name="텍스트 개체 틀 29"/>
          <p:cNvSpPr>
            <a:spLocks noGrp="1"/>
          </p:cNvSpPr>
          <p:nvPr>
            <p:ph type="body" sz="quarter" idx="17" hasCustomPrompt="1"/>
          </p:nvPr>
        </p:nvSpPr>
        <p:spPr>
          <a:xfrm>
            <a:off x="344217" y="6286100"/>
            <a:ext cx="9178529" cy="272382"/>
          </a:xfrm>
          <a:noFill/>
        </p:spPr>
        <p:txBody>
          <a:bodyPr wrap="square">
            <a:spAutoFit/>
          </a:bodyPr>
          <a:lstStyle>
            <a:lvl1pPr>
              <a:defRPr lang="ko-KR" altLang="en-US" sz="90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lvl="0">
              <a:lnSpc>
                <a:spcPct val="130000"/>
              </a:lnSpc>
            </a:pPr>
            <a:r>
              <a:rPr lang="ko-KR" altLang="en-US"/>
              <a:t>마스터 각주 스타일 편집</a:t>
            </a:r>
          </a:p>
        </p:txBody>
      </p:sp>
      <p:sp>
        <p:nvSpPr>
          <p:cNvPr id="8" name="Slide Number Placeholder 3"/>
          <p:cNvSpPr txBox="1">
            <a:spLocks/>
          </p:cNvSpPr>
          <p:nvPr userDrawn="1"/>
        </p:nvSpPr>
        <p:spPr>
          <a:xfrm>
            <a:off x="7350805" y="641506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3738D9-C18D-CD46-A342-F4F6E9A29F3F}" type="slidenum">
              <a:rPr kumimoji="1" lang="ko-Kore-KR" altLang="en-US" sz="900" smtClean="0">
                <a:solidFill>
                  <a:schemeClr val="bg1"/>
                </a:solidFill>
              </a:rPr>
              <a:pPr/>
              <a:t>‹#›</a:t>
            </a:fld>
            <a:endParaRPr kumimoji="1" lang="ko-Kore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511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(세로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53F065E-0C4E-E695-D599-EF7C3F436851}"/>
              </a:ext>
            </a:extLst>
          </p:cNvPr>
          <p:cNvSpPr/>
          <p:nvPr userDrawn="1"/>
        </p:nvSpPr>
        <p:spPr>
          <a:xfrm>
            <a:off x="3355759" y="0"/>
            <a:ext cx="6550241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33395" dist="38100" dir="10800000" algn="r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662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3577296" y="6287524"/>
            <a:ext cx="6107166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2D048624-3396-312F-C991-A47E2BC95D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8485" y="137271"/>
            <a:ext cx="640740" cy="106790"/>
          </a:xfrm>
          <a:prstGeom prst="rect">
            <a:avLst/>
          </a:prstGeom>
        </p:spPr>
      </p:pic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236485" y="244061"/>
            <a:ext cx="3119275" cy="1311128"/>
          </a:xfrm>
          <a:noFill/>
        </p:spPr>
        <p:txBody>
          <a:bodyPr wrap="square" rtlCol="0">
            <a:spAutoFit/>
          </a:bodyPr>
          <a:lstStyle>
            <a:lvl1pPr>
              <a:defRPr lang="ko-KR" altLang="en-US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lvl="0"/>
            <a:r>
              <a:rPr lang="ko-KR" altLang="en-US"/>
              <a:t>마스터 제목 스타일 편집</a:t>
            </a:r>
          </a:p>
        </p:txBody>
      </p:sp>
      <p:sp>
        <p:nvSpPr>
          <p:cNvPr id="10" name="텍스트 개체 틀 29"/>
          <p:cNvSpPr>
            <a:spLocks noGrp="1"/>
          </p:cNvSpPr>
          <p:nvPr>
            <p:ph type="body" sz="quarter" idx="16" hasCustomPrompt="1"/>
          </p:nvPr>
        </p:nvSpPr>
        <p:spPr>
          <a:xfrm>
            <a:off x="344218" y="5529057"/>
            <a:ext cx="2898596" cy="387798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kumimoji="1" lang="ko-KR" altLang="en-US" sz="1600" b="1" smtClean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marL="0" lvl="0">
              <a:lnSpc>
                <a:spcPct val="120000"/>
              </a:lnSpc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11" name="텍스트 개체 틀 29"/>
          <p:cNvSpPr>
            <a:spLocks noGrp="1"/>
          </p:cNvSpPr>
          <p:nvPr>
            <p:ph type="body" sz="quarter" idx="17" hasCustomPrompt="1"/>
          </p:nvPr>
        </p:nvSpPr>
        <p:spPr>
          <a:xfrm>
            <a:off x="3611026" y="6286100"/>
            <a:ext cx="6073435" cy="27238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90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lvl="0">
              <a:lnSpc>
                <a:spcPct val="130000"/>
              </a:lnSpc>
            </a:pPr>
            <a:r>
              <a:rPr lang="ko-KR" altLang="en-US"/>
              <a:t>마스터 각주 스타일 편집</a:t>
            </a:r>
          </a:p>
        </p:txBody>
      </p:sp>
      <p:sp>
        <p:nvSpPr>
          <p:cNvPr id="14" name="텍스트 개체 틀 29"/>
          <p:cNvSpPr>
            <a:spLocks noGrp="1"/>
          </p:cNvSpPr>
          <p:nvPr>
            <p:ph type="body" sz="quarter" idx="18"/>
          </p:nvPr>
        </p:nvSpPr>
        <p:spPr>
          <a:xfrm>
            <a:off x="3611027" y="1131830"/>
            <a:ext cx="5837717" cy="2308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0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lvl="0"/>
            <a:r>
              <a:rPr lang="ko-KR" altLang="en-US"/>
              <a:t>마스터 텍스트 스타일 편집</a:t>
            </a:r>
          </a:p>
        </p:txBody>
      </p:sp>
      <p:sp>
        <p:nvSpPr>
          <p:cNvPr id="12" name="Slide Number Placeholder 3"/>
          <p:cNvSpPr txBox="1">
            <a:spLocks/>
          </p:cNvSpPr>
          <p:nvPr userDrawn="1"/>
        </p:nvSpPr>
        <p:spPr>
          <a:xfrm>
            <a:off x="7185390" y="6413665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3738D9-C18D-CD46-A342-F4F6E9A29F3F}" type="slidenum">
              <a:rPr kumimoji="1" lang="ko-Kore-KR" altLang="en-US" sz="900" smtClean="0">
                <a:solidFill>
                  <a:schemeClr val="bg1"/>
                </a:solidFill>
              </a:rPr>
              <a:pPr/>
              <a:t>‹#›</a:t>
            </a:fld>
            <a:endParaRPr kumimoji="1" lang="ko-Kore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9092216" y="6546451"/>
            <a:ext cx="619380" cy="244492"/>
          </a:xfrm>
          <a:prstGeom prst="roundRect">
            <a:avLst>
              <a:gd name="adj" fmla="val 50000"/>
            </a:avLst>
          </a:prstGeom>
          <a:solidFill>
            <a:srgbClr val="7B401F"/>
          </a:solidFill>
          <a:ln>
            <a:solidFill>
              <a:srgbClr val="7B40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lide Number Placeholder 3"/>
          <p:cNvSpPr txBox="1">
            <a:spLocks/>
          </p:cNvSpPr>
          <p:nvPr userDrawn="1"/>
        </p:nvSpPr>
        <p:spPr>
          <a:xfrm>
            <a:off x="7350805" y="641506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3738D9-C18D-CD46-A342-F4F6E9A29F3F}" type="slidenum">
              <a:rPr kumimoji="1" lang="ko-Kore-KR" altLang="en-US" sz="900" smtClean="0">
                <a:solidFill>
                  <a:schemeClr val="bg1"/>
                </a:solidFill>
              </a:rPr>
              <a:pPr/>
              <a:t>‹#›</a:t>
            </a:fld>
            <a:endParaRPr kumimoji="1" lang="ko-Kore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199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F37A5-2E4A-3945-92B0-349DE2CAC0A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89970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기본(가로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4535C1-1A23-756D-C51A-5A253E679940}"/>
              </a:ext>
            </a:extLst>
          </p:cNvPr>
          <p:cNvSpPr/>
          <p:nvPr userDrawn="1"/>
        </p:nvSpPr>
        <p:spPr>
          <a:xfrm>
            <a:off x="0" y="1471700"/>
            <a:ext cx="9906000" cy="53863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33395" dist="38100" dir="10800000" algn="r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6484" y="6287524"/>
            <a:ext cx="9433032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2D048624-3396-312F-C991-A47E2BC95D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8485" y="137271"/>
            <a:ext cx="640740" cy="10679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 userDrawn="1"/>
        </p:nvSpPr>
        <p:spPr>
          <a:xfrm>
            <a:off x="9092216" y="6546451"/>
            <a:ext cx="619380" cy="244492"/>
          </a:xfrm>
          <a:prstGeom prst="roundRect">
            <a:avLst>
              <a:gd name="adj" fmla="val 50000"/>
            </a:avLst>
          </a:prstGeom>
          <a:solidFill>
            <a:srgbClr val="7B401F"/>
          </a:solidFill>
          <a:ln>
            <a:solidFill>
              <a:srgbClr val="7B40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Slide Number Placeholder 3"/>
          <p:cNvSpPr txBox="1">
            <a:spLocks/>
          </p:cNvSpPr>
          <p:nvPr userDrawn="1"/>
        </p:nvSpPr>
        <p:spPr>
          <a:xfrm>
            <a:off x="7350805" y="641506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3738D9-C18D-CD46-A342-F4F6E9A29F3F}" type="slidenum">
              <a:rPr kumimoji="1" lang="ko-Kore-KR" altLang="en-US" sz="900" smtClean="0">
                <a:solidFill>
                  <a:schemeClr val="bg1"/>
                </a:solidFill>
              </a:rPr>
              <a:pPr/>
              <a:t>‹#›</a:t>
            </a:fld>
            <a:endParaRPr kumimoji="1" lang="ko-Kore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05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기본(세로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53F065E-0C4E-E695-D599-EF7C3F436851}"/>
              </a:ext>
            </a:extLst>
          </p:cNvPr>
          <p:cNvSpPr/>
          <p:nvPr userDrawn="1"/>
        </p:nvSpPr>
        <p:spPr>
          <a:xfrm>
            <a:off x="3355759" y="0"/>
            <a:ext cx="6550241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33395" dist="38100" dir="10800000" algn="r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3577296" y="6287524"/>
            <a:ext cx="6107166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2D048624-3396-312F-C991-A47E2BC95D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8485" y="137271"/>
            <a:ext cx="640740" cy="106790"/>
          </a:xfrm>
          <a:prstGeom prst="rect">
            <a:avLst/>
          </a:prstGeom>
        </p:spPr>
      </p:pic>
      <p:sp>
        <p:nvSpPr>
          <p:cNvPr id="10" name="모서리가 둥근 직사각형 9"/>
          <p:cNvSpPr/>
          <p:nvPr userDrawn="1"/>
        </p:nvSpPr>
        <p:spPr>
          <a:xfrm>
            <a:off x="9092216" y="6546451"/>
            <a:ext cx="619380" cy="244492"/>
          </a:xfrm>
          <a:prstGeom prst="roundRect">
            <a:avLst>
              <a:gd name="adj" fmla="val 50000"/>
            </a:avLst>
          </a:prstGeom>
          <a:solidFill>
            <a:srgbClr val="7B401F"/>
          </a:solidFill>
          <a:ln>
            <a:solidFill>
              <a:srgbClr val="7B40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lide Number Placeholder 3"/>
          <p:cNvSpPr txBox="1">
            <a:spLocks/>
          </p:cNvSpPr>
          <p:nvPr userDrawn="1"/>
        </p:nvSpPr>
        <p:spPr>
          <a:xfrm>
            <a:off x="7350805" y="641506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3738D9-C18D-CD46-A342-F4F6E9A29F3F}" type="slidenum">
              <a:rPr kumimoji="1" lang="ko-Kore-KR" altLang="en-US" sz="900" smtClean="0">
                <a:solidFill>
                  <a:schemeClr val="bg1"/>
                </a:solidFill>
              </a:rPr>
              <a:pPr/>
              <a:t>‹#›</a:t>
            </a:fld>
            <a:endParaRPr kumimoji="1" lang="ko-Kore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925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F37A5-2E4A-3945-92B0-349DE2CAC0A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9072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확장①(가로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4535C1-1A23-756D-C51A-5A253E679940}"/>
              </a:ext>
            </a:extLst>
          </p:cNvPr>
          <p:cNvSpPr/>
          <p:nvPr userDrawn="1"/>
        </p:nvSpPr>
        <p:spPr>
          <a:xfrm>
            <a:off x="0" y="1278000"/>
            <a:ext cx="9906000" cy="55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33395" dist="38100" dir="10800000" algn="r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6484" y="6287524"/>
            <a:ext cx="9433032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2D048624-3396-312F-C991-A47E2BC95D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8485" y="137271"/>
            <a:ext cx="640740" cy="106790"/>
          </a:xfrm>
          <a:prstGeom prst="rect">
            <a:avLst/>
          </a:prstGeom>
        </p:spPr>
      </p:pic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7187257" y="641719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3738D9-C18D-CD46-A342-F4F6E9A29F3F}" type="slidenum">
              <a:rPr kumimoji="1" lang="ko-Kore-KR" altLang="en-US" sz="900" smtClean="0">
                <a:solidFill>
                  <a:schemeClr val="bg1"/>
                </a:solidFill>
              </a:rPr>
              <a:pPr/>
              <a:t>‹#›</a:t>
            </a:fld>
            <a:endParaRPr kumimoji="1" lang="ko-Kore-KR" altLang="en-US" sz="900">
              <a:solidFill>
                <a:schemeClr val="bg1"/>
              </a:solidFill>
            </a:endParaRPr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9092216" y="6546451"/>
            <a:ext cx="619380" cy="244492"/>
          </a:xfrm>
          <a:prstGeom prst="roundRect">
            <a:avLst>
              <a:gd name="adj" fmla="val 50000"/>
            </a:avLst>
          </a:prstGeom>
          <a:solidFill>
            <a:srgbClr val="7B401F"/>
          </a:solidFill>
          <a:ln>
            <a:solidFill>
              <a:srgbClr val="7B40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Slide Number Placeholder 3"/>
          <p:cNvSpPr txBox="1">
            <a:spLocks/>
          </p:cNvSpPr>
          <p:nvPr userDrawn="1"/>
        </p:nvSpPr>
        <p:spPr>
          <a:xfrm>
            <a:off x="7350805" y="641506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3738D9-C18D-CD46-A342-F4F6E9A29F3F}" type="slidenum">
              <a:rPr kumimoji="1" lang="ko-Kore-KR" altLang="en-US" sz="900" smtClean="0">
                <a:solidFill>
                  <a:schemeClr val="bg1"/>
                </a:solidFill>
              </a:rPr>
              <a:pPr/>
              <a:t>‹#›</a:t>
            </a:fld>
            <a:endParaRPr kumimoji="1" lang="ko-Kore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423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확장②(세로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53F065E-0C4E-E695-D599-EF7C3F436851}"/>
              </a:ext>
            </a:extLst>
          </p:cNvPr>
          <p:cNvSpPr/>
          <p:nvPr userDrawn="1"/>
        </p:nvSpPr>
        <p:spPr>
          <a:xfrm>
            <a:off x="2526000" y="0"/>
            <a:ext cx="7380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33395" dist="38100" dir="10800000" algn="r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2728116" y="6287524"/>
            <a:ext cx="697576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2D048624-3396-312F-C991-A47E2BC95D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8485" y="137271"/>
            <a:ext cx="640740" cy="106790"/>
          </a:xfrm>
          <a:prstGeom prst="rect">
            <a:avLst/>
          </a:prstGeom>
        </p:spPr>
      </p:pic>
      <p:sp>
        <p:nvSpPr>
          <p:cNvPr id="10" name="모서리가 둥근 직사각형 9"/>
          <p:cNvSpPr/>
          <p:nvPr userDrawn="1"/>
        </p:nvSpPr>
        <p:spPr>
          <a:xfrm>
            <a:off x="9092216" y="6546451"/>
            <a:ext cx="619380" cy="244492"/>
          </a:xfrm>
          <a:prstGeom prst="roundRect">
            <a:avLst>
              <a:gd name="adj" fmla="val 50000"/>
            </a:avLst>
          </a:prstGeom>
          <a:solidFill>
            <a:srgbClr val="7B401F"/>
          </a:solidFill>
          <a:ln>
            <a:solidFill>
              <a:srgbClr val="7B40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lide Number Placeholder 3"/>
          <p:cNvSpPr txBox="1">
            <a:spLocks/>
          </p:cNvSpPr>
          <p:nvPr userDrawn="1"/>
        </p:nvSpPr>
        <p:spPr>
          <a:xfrm>
            <a:off x="7350805" y="641506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3738D9-C18D-CD46-A342-F4F6E9A29F3F}" type="slidenum">
              <a:rPr kumimoji="1" lang="ko-Kore-KR" altLang="en-US" sz="900" smtClean="0">
                <a:solidFill>
                  <a:schemeClr val="bg1"/>
                </a:solidFill>
              </a:rPr>
              <a:pPr/>
              <a:t>‹#›</a:t>
            </a:fld>
            <a:endParaRPr kumimoji="1" lang="ko-Kore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486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확장②(가로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24535C1-1A23-756D-C51A-5A253E679940}"/>
              </a:ext>
            </a:extLst>
          </p:cNvPr>
          <p:cNvSpPr/>
          <p:nvPr userDrawn="1"/>
        </p:nvSpPr>
        <p:spPr>
          <a:xfrm>
            <a:off x="0" y="918000"/>
            <a:ext cx="9906000" cy="594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33395" dist="38100" dir="10800000" algn="r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6484" y="6287524"/>
            <a:ext cx="9433032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2D048624-3396-312F-C991-A47E2BC95D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8485" y="137271"/>
            <a:ext cx="640740" cy="106790"/>
          </a:xfrm>
          <a:prstGeom prst="rect">
            <a:avLst/>
          </a:prstGeom>
        </p:spPr>
      </p:pic>
      <p:sp>
        <p:nvSpPr>
          <p:cNvPr id="10" name="모서리가 둥근 직사각형 9"/>
          <p:cNvSpPr/>
          <p:nvPr userDrawn="1"/>
        </p:nvSpPr>
        <p:spPr>
          <a:xfrm>
            <a:off x="9092216" y="6546451"/>
            <a:ext cx="619380" cy="244492"/>
          </a:xfrm>
          <a:prstGeom prst="roundRect">
            <a:avLst>
              <a:gd name="adj" fmla="val 50000"/>
            </a:avLst>
          </a:prstGeom>
          <a:solidFill>
            <a:srgbClr val="7B401F"/>
          </a:solidFill>
          <a:ln>
            <a:solidFill>
              <a:srgbClr val="7B40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lide Number Placeholder 3"/>
          <p:cNvSpPr txBox="1">
            <a:spLocks/>
          </p:cNvSpPr>
          <p:nvPr userDrawn="1"/>
        </p:nvSpPr>
        <p:spPr>
          <a:xfrm>
            <a:off x="7350805" y="641506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3738D9-C18D-CD46-A342-F4F6E9A29F3F}" type="slidenum">
              <a:rPr kumimoji="1" lang="ko-Kore-KR" altLang="en-US" sz="900" smtClean="0">
                <a:solidFill>
                  <a:schemeClr val="bg1"/>
                </a:solidFill>
              </a:rPr>
              <a:pPr/>
              <a:t>‹#›</a:t>
            </a:fld>
            <a:endParaRPr kumimoji="1" lang="ko-Kore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130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기본(가로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4535C1-1A23-756D-C51A-5A253E679940}"/>
              </a:ext>
            </a:extLst>
          </p:cNvPr>
          <p:cNvSpPr/>
          <p:nvPr userDrawn="1"/>
        </p:nvSpPr>
        <p:spPr>
          <a:xfrm>
            <a:off x="0" y="1471700"/>
            <a:ext cx="9906000" cy="53863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33395" dist="38100" dir="10800000" algn="r" rotWithShape="0">
              <a:schemeClr val="bg1">
                <a:lumMod val="50000"/>
                <a:alpha val="7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6484" y="6287524"/>
            <a:ext cx="9433032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2D048624-3396-312F-C991-A47E2BC95D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8485" y="137271"/>
            <a:ext cx="640740" cy="106790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 userDrawn="1"/>
        </p:nvSpPr>
        <p:spPr>
          <a:xfrm>
            <a:off x="9092216" y="6546451"/>
            <a:ext cx="619380" cy="244492"/>
          </a:xfrm>
          <a:prstGeom prst="roundRect">
            <a:avLst>
              <a:gd name="adj" fmla="val 50000"/>
            </a:avLst>
          </a:prstGeom>
          <a:solidFill>
            <a:srgbClr val="7B401F"/>
          </a:solidFill>
          <a:ln>
            <a:solidFill>
              <a:srgbClr val="7B40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Slide Number Placeholder 3"/>
          <p:cNvSpPr txBox="1">
            <a:spLocks/>
          </p:cNvSpPr>
          <p:nvPr userDrawn="1"/>
        </p:nvSpPr>
        <p:spPr>
          <a:xfrm>
            <a:off x="7350805" y="641506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3738D9-C18D-CD46-A342-F4F6E9A29F3F}" type="slidenum">
              <a:rPr kumimoji="1" lang="ko-Kore-KR" altLang="en-US" sz="900" smtClean="0">
                <a:solidFill>
                  <a:schemeClr val="bg1"/>
                </a:solidFill>
              </a:rPr>
              <a:pPr/>
              <a:t>‹#›</a:t>
            </a:fld>
            <a:endParaRPr kumimoji="1" lang="ko-Kore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4411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기본(세로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53F065E-0C4E-E695-D599-EF7C3F436851}"/>
              </a:ext>
            </a:extLst>
          </p:cNvPr>
          <p:cNvSpPr/>
          <p:nvPr userDrawn="1"/>
        </p:nvSpPr>
        <p:spPr>
          <a:xfrm>
            <a:off x="3355759" y="0"/>
            <a:ext cx="6550241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33395" dist="38100" dir="10800000" algn="r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3577296" y="6287524"/>
            <a:ext cx="6107166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2D048624-3396-312F-C991-A47E2BC95D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8485" y="137271"/>
            <a:ext cx="640740" cy="106790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 userDrawn="1"/>
        </p:nvSpPr>
        <p:spPr>
          <a:xfrm>
            <a:off x="9092216" y="6546451"/>
            <a:ext cx="619380" cy="244492"/>
          </a:xfrm>
          <a:prstGeom prst="roundRect">
            <a:avLst>
              <a:gd name="adj" fmla="val 50000"/>
            </a:avLst>
          </a:prstGeom>
          <a:solidFill>
            <a:srgbClr val="7B401F"/>
          </a:solidFill>
          <a:ln>
            <a:solidFill>
              <a:srgbClr val="7B40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lide Number Placeholder 3"/>
          <p:cNvSpPr txBox="1">
            <a:spLocks/>
          </p:cNvSpPr>
          <p:nvPr userDrawn="1"/>
        </p:nvSpPr>
        <p:spPr>
          <a:xfrm>
            <a:off x="7350805" y="641506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3738D9-C18D-CD46-A342-F4F6E9A29F3F}" type="slidenum">
              <a:rPr kumimoji="1" lang="ko-Kore-KR" altLang="en-US" sz="900" smtClean="0">
                <a:solidFill>
                  <a:schemeClr val="bg1"/>
                </a:solidFill>
              </a:rPr>
              <a:pPr/>
              <a:t>‹#›</a:t>
            </a:fld>
            <a:endParaRPr kumimoji="1" lang="ko-Kore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522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확장①(가로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4535C1-1A23-756D-C51A-5A253E679940}"/>
              </a:ext>
            </a:extLst>
          </p:cNvPr>
          <p:cNvSpPr/>
          <p:nvPr userDrawn="1"/>
        </p:nvSpPr>
        <p:spPr>
          <a:xfrm>
            <a:off x="0" y="1278000"/>
            <a:ext cx="9906000" cy="55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33395" dist="38100" dir="10800000" algn="r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6484" y="6287524"/>
            <a:ext cx="9433032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2D048624-3396-312F-C991-A47E2BC95D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8485" y="137271"/>
            <a:ext cx="640740" cy="106790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 userDrawn="1"/>
        </p:nvSpPr>
        <p:spPr>
          <a:xfrm>
            <a:off x="9092216" y="6546451"/>
            <a:ext cx="619380" cy="244492"/>
          </a:xfrm>
          <a:prstGeom prst="roundRect">
            <a:avLst>
              <a:gd name="adj" fmla="val 50000"/>
            </a:avLst>
          </a:prstGeom>
          <a:solidFill>
            <a:srgbClr val="7B401F"/>
          </a:solidFill>
          <a:ln>
            <a:solidFill>
              <a:srgbClr val="7B40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Slide Number Placeholder 3"/>
          <p:cNvSpPr txBox="1">
            <a:spLocks/>
          </p:cNvSpPr>
          <p:nvPr userDrawn="1"/>
        </p:nvSpPr>
        <p:spPr>
          <a:xfrm>
            <a:off x="7350805" y="641506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3738D9-C18D-CD46-A342-F4F6E9A29F3F}" type="slidenum">
              <a:rPr kumimoji="1" lang="ko-Kore-KR" altLang="en-US" sz="900" smtClean="0">
                <a:solidFill>
                  <a:schemeClr val="bg1"/>
                </a:solidFill>
              </a:rPr>
              <a:pPr/>
              <a:t>‹#›</a:t>
            </a:fld>
            <a:endParaRPr kumimoji="1" lang="ko-Kore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25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확장①(세로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53F065E-0C4E-E695-D599-EF7C3F436851}"/>
              </a:ext>
            </a:extLst>
          </p:cNvPr>
          <p:cNvSpPr/>
          <p:nvPr userDrawn="1"/>
        </p:nvSpPr>
        <p:spPr>
          <a:xfrm>
            <a:off x="3066000" y="0"/>
            <a:ext cx="6840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33395" dist="38100" dir="10800000" algn="r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3269848" y="6287524"/>
            <a:ext cx="6432304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2D048624-3396-312F-C991-A47E2BC95D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8485" y="137271"/>
            <a:ext cx="640740" cy="106790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 userDrawn="1"/>
        </p:nvSpPr>
        <p:spPr>
          <a:xfrm>
            <a:off x="9092216" y="6546451"/>
            <a:ext cx="619380" cy="244492"/>
          </a:xfrm>
          <a:prstGeom prst="roundRect">
            <a:avLst>
              <a:gd name="adj" fmla="val 50000"/>
            </a:avLst>
          </a:prstGeom>
          <a:solidFill>
            <a:srgbClr val="7B401F"/>
          </a:solidFill>
          <a:ln>
            <a:solidFill>
              <a:srgbClr val="7B40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lide Number Placeholder 3"/>
          <p:cNvSpPr txBox="1">
            <a:spLocks/>
          </p:cNvSpPr>
          <p:nvPr userDrawn="1"/>
        </p:nvSpPr>
        <p:spPr>
          <a:xfrm>
            <a:off x="7350805" y="641506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3738D9-C18D-CD46-A342-F4F6E9A29F3F}" type="slidenum">
              <a:rPr kumimoji="1" lang="ko-Kore-KR" altLang="en-US" sz="900" smtClean="0">
                <a:solidFill>
                  <a:schemeClr val="bg1"/>
                </a:solidFill>
              </a:rPr>
              <a:pPr/>
              <a:t>‹#›</a:t>
            </a:fld>
            <a:endParaRPr kumimoji="1" lang="ko-Kore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8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확장②(가로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24535C1-1A23-756D-C51A-5A253E679940}"/>
              </a:ext>
            </a:extLst>
          </p:cNvPr>
          <p:cNvSpPr/>
          <p:nvPr userDrawn="1"/>
        </p:nvSpPr>
        <p:spPr>
          <a:xfrm>
            <a:off x="0" y="918000"/>
            <a:ext cx="9906000" cy="594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33395" dist="38100" dir="10800000" algn="r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6484" y="6287524"/>
            <a:ext cx="9433032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2D048624-3396-312F-C991-A47E2BC95D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8485" y="137271"/>
            <a:ext cx="640740" cy="106790"/>
          </a:xfrm>
          <a:prstGeom prst="rect">
            <a:avLst/>
          </a:prstGeom>
        </p:spPr>
      </p:pic>
      <p:sp>
        <p:nvSpPr>
          <p:cNvPr id="10" name="모서리가 둥근 직사각형 9"/>
          <p:cNvSpPr/>
          <p:nvPr userDrawn="1"/>
        </p:nvSpPr>
        <p:spPr>
          <a:xfrm>
            <a:off x="9092216" y="6546451"/>
            <a:ext cx="619380" cy="244492"/>
          </a:xfrm>
          <a:prstGeom prst="roundRect">
            <a:avLst>
              <a:gd name="adj" fmla="val 50000"/>
            </a:avLst>
          </a:prstGeom>
          <a:solidFill>
            <a:srgbClr val="7B401F"/>
          </a:solidFill>
          <a:ln>
            <a:solidFill>
              <a:srgbClr val="7B40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lide Number Placeholder 3"/>
          <p:cNvSpPr txBox="1">
            <a:spLocks/>
          </p:cNvSpPr>
          <p:nvPr userDrawn="1"/>
        </p:nvSpPr>
        <p:spPr>
          <a:xfrm>
            <a:off x="7350805" y="641506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3738D9-C18D-CD46-A342-F4F6E9A29F3F}" type="slidenum">
              <a:rPr kumimoji="1" lang="ko-Kore-KR" altLang="en-US" sz="900" smtClean="0">
                <a:solidFill>
                  <a:schemeClr val="bg1"/>
                </a:solidFill>
              </a:rPr>
              <a:pPr/>
              <a:t>‹#›</a:t>
            </a:fld>
            <a:endParaRPr kumimoji="1" lang="ko-Kore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7967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확장②(세로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53F065E-0C4E-E695-D599-EF7C3F436851}"/>
              </a:ext>
            </a:extLst>
          </p:cNvPr>
          <p:cNvSpPr/>
          <p:nvPr userDrawn="1"/>
        </p:nvSpPr>
        <p:spPr>
          <a:xfrm>
            <a:off x="2526000" y="0"/>
            <a:ext cx="7380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33395" dist="38100" dir="10800000" algn="r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2728116" y="6287524"/>
            <a:ext cx="6975768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2D048624-3396-312F-C991-A47E2BC95D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8485" y="137271"/>
            <a:ext cx="640740" cy="106790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 userDrawn="1"/>
        </p:nvSpPr>
        <p:spPr>
          <a:xfrm>
            <a:off x="9092216" y="6546451"/>
            <a:ext cx="619380" cy="244492"/>
          </a:xfrm>
          <a:prstGeom prst="roundRect">
            <a:avLst>
              <a:gd name="adj" fmla="val 50000"/>
            </a:avLst>
          </a:prstGeom>
          <a:solidFill>
            <a:srgbClr val="7B401F"/>
          </a:solidFill>
          <a:ln>
            <a:solidFill>
              <a:srgbClr val="7B40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lide Number Placeholder 3"/>
          <p:cNvSpPr txBox="1">
            <a:spLocks/>
          </p:cNvSpPr>
          <p:nvPr userDrawn="1"/>
        </p:nvSpPr>
        <p:spPr>
          <a:xfrm>
            <a:off x="7350805" y="641506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3738D9-C18D-CD46-A342-F4F6E9A29F3F}" type="slidenum">
              <a:rPr kumimoji="1" lang="ko-Kore-KR" altLang="en-US" sz="900" smtClean="0">
                <a:solidFill>
                  <a:schemeClr val="bg1"/>
                </a:solidFill>
              </a:rPr>
              <a:pPr/>
              <a:t>‹#›</a:t>
            </a:fld>
            <a:endParaRPr kumimoji="1" lang="ko-Kore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3941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7638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67CD3F-C198-4AEB-93AD-2851D5E15E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26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7502" y="953753"/>
            <a:ext cx="9366176" cy="1896697"/>
          </a:xfrm>
        </p:spPr>
        <p:txBody>
          <a:bodyPr>
            <a:normAutofit/>
          </a:bodyPr>
          <a:lstStyle/>
          <a:p>
            <a:r>
              <a:rPr lang="en-US" altLang="ko-KR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</a:t>
            </a:r>
            <a:r>
              <a:rPr lang="ko-KR" altLang="en-US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운용본부</a:t>
            </a:r>
            <a:br>
              <a:rPr lang="en-US" altLang="ko-KR" sz="4800" b="1" dirty="0">
                <a:solidFill>
                  <a:srgbClr val="7B401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b="1" dirty="0">
                <a:solidFill>
                  <a:srgbClr val="7B401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Quantitative Analysis</a:t>
            </a:r>
            <a:endParaRPr lang="ko-KR" altLang="en-US" b="1" dirty="0">
              <a:solidFill>
                <a:srgbClr val="7B401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6"/>
          </p:nvPr>
        </p:nvSpPr>
        <p:spPr>
          <a:xfrm>
            <a:off x="287501" y="3882471"/>
            <a:ext cx="3964670" cy="286232"/>
          </a:xfrm>
        </p:spPr>
        <p:txBody>
          <a:bodyPr/>
          <a:lstStyle/>
          <a:p>
            <a:r>
              <a:rPr lang="en-US" altLang="ko-KR" dirty="0"/>
              <a:t>2025. 09. 23</a:t>
            </a:r>
          </a:p>
        </p:txBody>
      </p:sp>
      <p:sp>
        <p:nvSpPr>
          <p:cNvPr id="8" name="텍스트 개체 틀 5"/>
          <p:cNvSpPr txBox="1">
            <a:spLocks/>
          </p:cNvSpPr>
          <p:nvPr/>
        </p:nvSpPr>
        <p:spPr>
          <a:xfrm>
            <a:off x="201237" y="4314453"/>
            <a:ext cx="3964670" cy="286232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 indent="0">
              <a:buNone/>
            </a:pP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운용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 김현수</a:t>
            </a:r>
          </a:p>
        </p:txBody>
      </p:sp>
    </p:spTree>
    <p:extLst>
      <p:ext uri="{BB962C8B-B14F-4D97-AF65-F5344CB8AC3E}">
        <p14:creationId xmlns:p14="http://schemas.microsoft.com/office/powerpoint/2010/main" val="296821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238125" y="134938"/>
            <a:ext cx="8543925" cy="703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Quantitative Analysis</a:t>
            </a:r>
            <a:endParaRPr lang="ko-KR" altLang="en-US" sz="3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2F795-32F9-C0D3-BEB1-264B764A7F9E}"/>
              </a:ext>
            </a:extLst>
          </p:cNvPr>
          <p:cNvSpPr txBox="1"/>
          <p:nvPr/>
        </p:nvSpPr>
        <p:spPr>
          <a:xfrm>
            <a:off x="276225" y="838200"/>
            <a:ext cx="763905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defTabSz="914400" latinLnBrk="1">
              <a:defRPr/>
            </a:pPr>
            <a:r>
              <a:rPr lang="ko-KR" altLang="en-US" sz="16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지표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13535F-4A40-7DB2-0430-6611782429C4}"/>
              </a:ext>
            </a:extLst>
          </p:cNvPr>
          <p:cNvSpPr txBox="1"/>
          <p:nvPr/>
        </p:nvSpPr>
        <p:spPr>
          <a:xfrm>
            <a:off x="254911" y="1430924"/>
            <a:ext cx="4125065" cy="27165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11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시장의 추세가 존재하는가</a:t>
            </a:r>
            <a:r>
              <a:rPr kumimoji="1" lang="en-US" altLang="ko-KR" sz="11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r>
              <a:rPr kumimoji="1" lang="ko-KR" altLang="en-US" sz="11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1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MQS (Momentum Quality Score)</a:t>
            </a: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방향성 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이동평균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x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명료도 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(R^2) x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효율성 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(ER) </a:t>
            </a:r>
          </a:p>
          <a:p>
            <a:pPr marL="628650" lvl="1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방향성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방향으로 움직이는가</a:t>
            </a:r>
            <a:endParaRPr kumimoji="1"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628650" lvl="1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명료도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얼마나 꾸준하고 일관되게 움직이는가</a:t>
            </a:r>
            <a:endParaRPr kumimoji="1"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628650" lvl="1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효율성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구불구불 돌아가는가 직선거리로 가는가</a:t>
            </a:r>
            <a:endParaRPr kumimoji="1"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20000"/>
              </a:lnSpc>
            </a:pPr>
            <a:endParaRPr kumimoji="1" lang="en-US" altLang="ko-KR" sz="11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kumimoji="1" lang="ko-KR" altLang="en-US" sz="11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시장은 추세에 동의하는가</a:t>
            </a:r>
            <a:r>
              <a:rPr kumimoji="1" lang="en-US" altLang="ko-KR" sz="11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r>
              <a:rPr kumimoji="1" lang="ko-KR" altLang="en-US" sz="11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1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FFM (Foreigner Flow Momentum)</a:t>
            </a: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현재 추세가 핵심 주체인 외인에게 </a:t>
            </a:r>
            <a:r>
              <a:rPr kumimoji="1"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지지받는가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외인의 선물 매매 모멘텀이 추세에 동행하는지 역행하는지 측정</a:t>
            </a:r>
            <a:endParaRPr kumimoji="1"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endParaRPr kumimoji="1"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kumimoji="1" lang="ko-KR" altLang="en-US" sz="11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시장은 얼마나 불안한가</a:t>
            </a:r>
            <a:r>
              <a:rPr kumimoji="1" lang="en-US" altLang="ko-KR" sz="11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r>
              <a:rPr kumimoji="1" lang="ko-KR" altLang="en-US" sz="11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1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BVI(Bond</a:t>
            </a:r>
            <a:r>
              <a:rPr kumimoji="1" lang="ko-KR" altLang="en-US" sz="11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1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Volatility</a:t>
            </a:r>
            <a:r>
              <a:rPr kumimoji="1" lang="ko-KR" altLang="en-US" sz="11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1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Index)</a:t>
            </a: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추세 없는 횡보가 진짜 평온한 상태인가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폭풍 전 고요함인가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횡보 국면의 에너지가 소강 상태인지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아니면 응축되고 있는지 측정</a:t>
            </a:r>
            <a:endParaRPr kumimoji="1"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7DDFBB-EBCB-431A-818F-72CBB9936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087" y="1397002"/>
            <a:ext cx="5331442" cy="48737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D4C6EF-815C-418A-BC72-47DAB97E6368}"/>
              </a:ext>
            </a:extLst>
          </p:cNvPr>
          <p:cNvSpPr txBox="1"/>
          <p:nvPr/>
        </p:nvSpPr>
        <p:spPr>
          <a:xfrm>
            <a:off x="392124" y="4215933"/>
            <a:ext cx="3850638" cy="278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2025-09-12 </a:t>
            </a:r>
            <a:r>
              <a:rPr kumimoji="1" lang="ko-KR" altLang="en-US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 국고</a:t>
            </a:r>
            <a:r>
              <a:rPr kumimoji="1"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kumimoji="1" lang="ko-KR" altLang="en-US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금리 분해 </a:t>
            </a:r>
            <a:endParaRPr kumimoji="1" lang="en-US" altLang="ko-KR" sz="11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2DD782E-3B78-4FA3-89F6-638321681ADE}"/>
              </a:ext>
            </a:extLst>
          </p:cNvPr>
          <p:cNvSpPr/>
          <p:nvPr/>
        </p:nvSpPr>
        <p:spPr>
          <a:xfrm rot="20437776">
            <a:off x="7923513" y="2091654"/>
            <a:ext cx="172797" cy="337867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B907C8C-5BA2-4402-93E8-17276924E09E}"/>
              </a:ext>
            </a:extLst>
          </p:cNvPr>
          <p:cNvSpPr/>
          <p:nvPr/>
        </p:nvSpPr>
        <p:spPr>
          <a:xfrm>
            <a:off x="7934602" y="3558468"/>
            <a:ext cx="213086" cy="498410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8BAC75D-5BB4-49C0-A35F-875A2BCB07FC}"/>
              </a:ext>
            </a:extLst>
          </p:cNvPr>
          <p:cNvCxnSpPr>
            <a:stCxn id="6" idx="6"/>
          </p:cNvCxnSpPr>
          <p:nvPr/>
        </p:nvCxnSpPr>
        <p:spPr>
          <a:xfrm flipV="1">
            <a:off x="8091420" y="1985963"/>
            <a:ext cx="309630" cy="245969"/>
          </a:xfrm>
          <a:prstGeom prst="straightConnector1">
            <a:avLst/>
          </a:prstGeom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C254405-48EE-423D-87AA-31B57E83EEAD}"/>
              </a:ext>
            </a:extLst>
          </p:cNvPr>
          <p:cNvCxnSpPr>
            <a:cxnSpLocks/>
          </p:cNvCxnSpPr>
          <p:nvPr/>
        </p:nvCxnSpPr>
        <p:spPr>
          <a:xfrm flipV="1">
            <a:off x="8091420" y="2049135"/>
            <a:ext cx="309630" cy="1553780"/>
          </a:xfrm>
          <a:prstGeom prst="straightConnector1">
            <a:avLst/>
          </a:prstGeom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A73F6AB-BABB-4E48-9F82-2E01747107A7}"/>
              </a:ext>
            </a:extLst>
          </p:cNvPr>
          <p:cNvSpPr txBox="1"/>
          <p:nvPr/>
        </p:nvSpPr>
        <p:spPr>
          <a:xfrm>
            <a:off x="8366499" y="1924660"/>
            <a:ext cx="539375" cy="184666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6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하락 모멘텀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E53C030-745C-4EA0-B55A-3D6F905096CD}"/>
              </a:ext>
            </a:extLst>
          </p:cNvPr>
          <p:cNvSpPr/>
          <p:nvPr/>
        </p:nvSpPr>
        <p:spPr>
          <a:xfrm rot="1546366">
            <a:off x="6220330" y="2549456"/>
            <a:ext cx="176519" cy="313854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5430298-8653-42D7-B76E-D6120D18D3FB}"/>
              </a:ext>
            </a:extLst>
          </p:cNvPr>
          <p:cNvSpPr/>
          <p:nvPr/>
        </p:nvSpPr>
        <p:spPr>
          <a:xfrm>
            <a:off x="6213918" y="3335468"/>
            <a:ext cx="213085" cy="498410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F7CA041-7282-4D67-9CC2-22802A87ECFC}"/>
              </a:ext>
            </a:extLst>
          </p:cNvPr>
          <p:cNvCxnSpPr>
            <a:cxnSpLocks/>
          </p:cNvCxnSpPr>
          <p:nvPr/>
        </p:nvCxnSpPr>
        <p:spPr>
          <a:xfrm flipH="1" flipV="1">
            <a:off x="5789351" y="2526690"/>
            <a:ext cx="424567" cy="1044568"/>
          </a:xfrm>
          <a:prstGeom prst="straightConnector1">
            <a:avLst/>
          </a:prstGeom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DEE2445-BDE2-49D0-93F4-61AE868C7A45}"/>
              </a:ext>
            </a:extLst>
          </p:cNvPr>
          <p:cNvCxnSpPr>
            <a:cxnSpLocks/>
          </p:cNvCxnSpPr>
          <p:nvPr/>
        </p:nvCxnSpPr>
        <p:spPr>
          <a:xfrm flipH="1" flipV="1">
            <a:off x="5820299" y="2526690"/>
            <a:ext cx="421093" cy="97078"/>
          </a:xfrm>
          <a:prstGeom prst="straightConnector1">
            <a:avLst/>
          </a:prstGeom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1067D77-C4FC-46AA-ADE9-C54D9E9B4FDA}"/>
              </a:ext>
            </a:extLst>
          </p:cNvPr>
          <p:cNvSpPr txBox="1"/>
          <p:nvPr/>
        </p:nvSpPr>
        <p:spPr>
          <a:xfrm>
            <a:off x="5284527" y="2341836"/>
            <a:ext cx="539375" cy="184666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6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상승 모멘텀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7A1A87E9-518B-4B8B-9D05-B51D764E3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839672"/>
              </p:ext>
            </p:extLst>
          </p:nvPr>
        </p:nvGraphicFramePr>
        <p:xfrm>
          <a:off x="392124" y="4563352"/>
          <a:ext cx="3850638" cy="1727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773">
                  <a:extLst>
                    <a:ext uri="{9D8B030D-6E8A-4147-A177-3AD203B41FA5}">
                      <a16:colId xmlns:a16="http://schemas.microsoft.com/office/drawing/2014/main" val="2391866425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162885716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62712568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3878606581"/>
                    </a:ext>
                  </a:extLst>
                </a:gridCol>
                <a:gridCol w="1173478">
                  <a:extLst>
                    <a:ext uri="{9D8B030D-6E8A-4147-A177-3AD203B41FA5}">
                      <a16:colId xmlns:a16="http://schemas.microsoft.com/office/drawing/2014/main" val="1485044062"/>
                    </a:ext>
                  </a:extLst>
                </a:gridCol>
              </a:tblGrid>
              <a:tr h="2644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종합국면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추천전략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66033"/>
                  </a:ext>
                </a:extLst>
              </a:tr>
              <a:tr h="320392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국고</a:t>
                      </a:r>
                      <a:b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ko-KR" altLang="en-US" sz="9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MQS</a:t>
                      </a:r>
                      <a:b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-0.00</a:t>
                      </a:r>
                      <a:endParaRPr lang="ko-KR" altLang="en-US" sz="9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방향성은 없으나 변동성 에너지가 쌓이는 중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 </a:t>
                      </a:r>
                      <a:br>
                        <a:rPr lang="en-US" altLang="ko-KR" sz="9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조만간 추세변동 발생 확률 존재</a:t>
                      </a:r>
                      <a:endParaRPr lang="ko-KR" altLang="en-US" sz="9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매매 준비</a:t>
                      </a:r>
                      <a:b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돌파 대기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361699"/>
                  </a:ext>
                </a:extLst>
              </a:tr>
              <a:tr h="3203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FFM</a:t>
                      </a:r>
                      <a:b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0.66</a:t>
                      </a:r>
                      <a:endParaRPr lang="ko-KR" altLang="en-US" sz="9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외인</a:t>
                      </a:r>
                      <a:b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57382"/>
                  </a:ext>
                </a:extLst>
              </a:tr>
              <a:tr h="3203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BVI</a:t>
                      </a:r>
                      <a:b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0.97</a:t>
                      </a:r>
                      <a:endParaRPr lang="ko-KR" altLang="en-US" sz="9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높은</a:t>
                      </a:r>
                      <a:b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2859321"/>
                  </a:ext>
                </a:extLst>
              </a:tr>
              <a:tr h="3203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10-3</a:t>
                      </a:r>
                      <a:b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0.382</a:t>
                      </a:r>
                      <a:endParaRPr lang="ko-KR" altLang="en-US" sz="9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</a:t>
                      </a:r>
                      <a:endParaRPr lang="ko-KR" altLang="en-US" sz="9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19475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194B052B-DD12-481E-B005-7A70D8581BAA}"/>
              </a:ext>
            </a:extLst>
          </p:cNvPr>
          <p:cNvSpPr txBox="1"/>
          <p:nvPr/>
        </p:nvSpPr>
        <p:spPr>
          <a:xfrm>
            <a:off x="8837308" y="2696551"/>
            <a:ext cx="539375" cy="184666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6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추세 등장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F755719-C2D8-4ADD-9525-23FBB2CB17C4}"/>
              </a:ext>
            </a:extLst>
          </p:cNvPr>
          <p:cNvSpPr/>
          <p:nvPr/>
        </p:nvSpPr>
        <p:spPr>
          <a:xfrm rot="16200000">
            <a:off x="8586231" y="2242784"/>
            <a:ext cx="164287" cy="337867"/>
          </a:xfrm>
          <a:prstGeom prst="ellipse">
            <a:avLst/>
          </a:prstGeom>
          <a:noFill/>
          <a:ln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1CFBC622-4382-499A-B0CF-1DB0080785CA}"/>
              </a:ext>
            </a:extLst>
          </p:cNvPr>
          <p:cNvSpPr/>
          <p:nvPr/>
        </p:nvSpPr>
        <p:spPr>
          <a:xfrm rot="16200000">
            <a:off x="8576961" y="5355592"/>
            <a:ext cx="182827" cy="337867"/>
          </a:xfrm>
          <a:prstGeom prst="ellipse">
            <a:avLst/>
          </a:prstGeom>
          <a:noFill/>
          <a:ln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B6F42D89-5CAF-433C-8DB5-D7AAC2D66952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8668374" y="2493861"/>
            <a:ext cx="1" cy="2933215"/>
          </a:xfrm>
          <a:prstGeom prst="straightConnector1">
            <a:avLst/>
          </a:prstGeom>
          <a:ln w="9525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화살표: 아래쪽 39">
            <a:extLst>
              <a:ext uri="{FF2B5EF4-FFF2-40B4-BE49-F238E27FC236}">
                <a16:creationId xmlns:a16="http://schemas.microsoft.com/office/drawing/2014/main" id="{45CF0A20-40AD-49C9-9977-ED62C0A37823}"/>
              </a:ext>
            </a:extLst>
          </p:cNvPr>
          <p:cNvSpPr/>
          <p:nvPr/>
        </p:nvSpPr>
        <p:spPr>
          <a:xfrm rot="19798640">
            <a:off x="8672135" y="2487722"/>
            <a:ext cx="103370" cy="190624"/>
          </a:xfrm>
          <a:prstGeom prst="downArrow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6686FAAD-CC82-4943-81CF-0DA199466F52}"/>
              </a:ext>
            </a:extLst>
          </p:cNvPr>
          <p:cNvSpPr/>
          <p:nvPr/>
        </p:nvSpPr>
        <p:spPr>
          <a:xfrm>
            <a:off x="7934602" y="4366475"/>
            <a:ext cx="213086" cy="498410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7A37D5C8-BD05-441D-ADF7-0A33A6B49CA4}"/>
              </a:ext>
            </a:extLst>
          </p:cNvPr>
          <p:cNvSpPr/>
          <p:nvPr/>
        </p:nvSpPr>
        <p:spPr>
          <a:xfrm>
            <a:off x="6213918" y="4575388"/>
            <a:ext cx="213085" cy="498410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F1A7EC01-6027-4CA0-B9A2-BC3E7E9D09DD}"/>
              </a:ext>
            </a:extLst>
          </p:cNvPr>
          <p:cNvCxnSpPr>
            <a:cxnSpLocks/>
            <a:stCxn id="46" idx="0"/>
          </p:cNvCxnSpPr>
          <p:nvPr/>
        </p:nvCxnSpPr>
        <p:spPr>
          <a:xfrm flipH="1" flipV="1">
            <a:off x="6307319" y="3833878"/>
            <a:ext cx="13142" cy="741510"/>
          </a:xfrm>
          <a:prstGeom prst="straightConnector1">
            <a:avLst/>
          </a:prstGeom>
          <a:ln w="9525" cap="flat" cmpd="sng" algn="ctr">
            <a:solidFill>
              <a:schemeClr val="accent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603CB10-2B32-4B64-AF41-2CFEF5F3DCB5}"/>
              </a:ext>
            </a:extLst>
          </p:cNvPr>
          <p:cNvCxnSpPr>
            <a:cxnSpLocks/>
            <a:endCxn id="16" idx="4"/>
          </p:cNvCxnSpPr>
          <p:nvPr/>
        </p:nvCxnSpPr>
        <p:spPr>
          <a:xfrm flipV="1">
            <a:off x="8023258" y="4056878"/>
            <a:ext cx="17887" cy="270704"/>
          </a:xfrm>
          <a:prstGeom prst="straightConnector1">
            <a:avLst/>
          </a:prstGeom>
          <a:ln w="9525" cap="flat" cmpd="sng" algn="ctr">
            <a:solidFill>
              <a:schemeClr val="accent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97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238125" y="134938"/>
            <a:ext cx="8543925" cy="703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Quantitative Analysis</a:t>
            </a:r>
            <a:endParaRPr lang="ko-KR" altLang="en-US" sz="3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2F795-32F9-C0D3-BEB1-264B764A7F9E}"/>
              </a:ext>
            </a:extLst>
          </p:cNvPr>
          <p:cNvSpPr txBox="1"/>
          <p:nvPr/>
        </p:nvSpPr>
        <p:spPr>
          <a:xfrm>
            <a:off x="276225" y="838200"/>
            <a:ext cx="763905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defTabSz="914400" latinLnBrk="1">
              <a:defRPr/>
            </a:pPr>
            <a:r>
              <a:rPr lang="ko-KR" altLang="en-US" sz="16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국고 </a:t>
            </a:r>
            <a:r>
              <a:rPr lang="en-US" altLang="ko-KR" sz="16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3</a:t>
            </a:r>
            <a:r>
              <a:rPr lang="ko-KR" altLang="en-US" sz="16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년 및 </a:t>
            </a:r>
            <a:r>
              <a:rPr lang="en-US" altLang="ko-KR" sz="16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10</a:t>
            </a:r>
            <a:r>
              <a:rPr lang="ko-KR" altLang="en-US" sz="16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년 금리 분석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A206976-3332-4EBE-917A-B90DF1049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880"/>
            <a:ext cx="9906000" cy="51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1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238125" y="134938"/>
            <a:ext cx="8543925" cy="703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Quantitative Analysis</a:t>
            </a:r>
            <a:endParaRPr lang="ko-KR" altLang="en-US" sz="3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2F795-32F9-C0D3-BEB1-264B764A7F9E}"/>
              </a:ext>
            </a:extLst>
          </p:cNvPr>
          <p:cNvSpPr txBox="1"/>
          <p:nvPr/>
        </p:nvSpPr>
        <p:spPr>
          <a:xfrm>
            <a:off x="276225" y="838200"/>
            <a:ext cx="763905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defTabSz="914400" latinLnBrk="1">
              <a:defRPr/>
            </a:pPr>
            <a:r>
              <a:rPr lang="ko-KR" altLang="en-US" sz="16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국면 판단 및 추천 </a:t>
            </a:r>
            <a:r>
              <a:rPr lang="ko-KR" altLang="en-US" sz="1600" b="1" spc="-62" dirty="0" err="1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전략표</a:t>
            </a:r>
            <a:endParaRPr lang="ko-KR" altLang="en-US" sz="1600" b="1" spc="-62" dirty="0">
              <a:solidFill>
                <a:srgbClr val="7B401F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0FFF791-A5CF-465B-A87C-138A7353F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335194"/>
              </p:ext>
            </p:extLst>
          </p:nvPr>
        </p:nvGraphicFramePr>
        <p:xfrm>
          <a:off x="384048" y="1399032"/>
          <a:ext cx="9140522" cy="49011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3887">
                  <a:extLst>
                    <a:ext uri="{9D8B030D-6E8A-4147-A177-3AD203B41FA5}">
                      <a16:colId xmlns:a16="http://schemas.microsoft.com/office/drawing/2014/main" val="1450863790"/>
                    </a:ext>
                  </a:extLst>
                </a:gridCol>
                <a:gridCol w="950704">
                  <a:extLst>
                    <a:ext uri="{9D8B030D-6E8A-4147-A177-3AD203B41FA5}">
                      <a16:colId xmlns:a16="http://schemas.microsoft.com/office/drawing/2014/main" val="1825132733"/>
                    </a:ext>
                  </a:extLst>
                </a:gridCol>
                <a:gridCol w="877573">
                  <a:extLst>
                    <a:ext uri="{9D8B030D-6E8A-4147-A177-3AD203B41FA5}">
                      <a16:colId xmlns:a16="http://schemas.microsoft.com/office/drawing/2014/main" val="1309154521"/>
                    </a:ext>
                  </a:extLst>
                </a:gridCol>
                <a:gridCol w="767876">
                  <a:extLst>
                    <a:ext uri="{9D8B030D-6E8A-4147-A177-3AD203B41FA5}">
                      <a16:colId xmlns:a16="http://schemas.microsoft.com/office/drawing/2014/main" val="4247943797"/>
                    </a:ext>
                  </a:extLst>
                </a:gridCol>
                <a:gridCol w="722169">
                  <a:extLst>
                    <a:ext uri="{9D8B030D-6E8A-4147-A177-3AD203B41FA5}">
                      <a16:colId xmlns:a16="http://schemas.microsoft.com/office/drawing/2014/main" val="1207236588"/>
                    </a:ext>
                  </a:extLst>
                </a:gridCol>
                <a:gridCol w="3875945">
                  <a:extLst>
                    <a:ext uri="{9D8B030D-6E8A-4147-A177-3AD203B41FA5}">
                      <a16:colId xmlns:a16="http://schemas.microsoft.com/office/drawing/2014/main" val="3868804211"/>
                    </a:ext>
                  </a:extLst>
                </a:gridCol>
                <a:gridCol w="1252368">
                  <a:extLst>
                    <a:ext uri="{9D8B030D-6E8A-4147-A177-3AD203B41FA5}">
                      <a16:colId xmlns:a16="http://schemas.microsoft.com/office/drawing/2014/main" val="939025077"/>
                    </a:ext>
                  </a:extLst>
                </a:gridCol>
              </a:tblGrid>
              <a:tr h="4195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MQS</a:t>
                      </a:r>
                      <a:endParaRPr lang="ko-KR" altLang="en-US" sz="110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FFM</a:t>
                      </a:r>
                      <a:endParaRPr lang="ko-KR" altLang="en-US" sz="110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BVI</a:t>
                      </a:r>
                      <a:endParaRPr lang="ko-KR" altLang="en-US" sz="110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국면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추천 전략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7678838"/>
                  </a:ext>
                </a:extLst>
              </a:tr>
              <a:tr h="448168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건강한 상승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상승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(&gt;0.1)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동조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(&gt;0)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높은 신뢰도의 상승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추세의 방향을 핵심 주체가 지지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 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추세가 지속될 확률이 높은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국면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추세 추종 매수 유지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추가 매수 검토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347017"/>
                  </a:ext>
                </a:extLst>
              </a:tr>
              <a:tr h="44816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의심스러운 상승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상승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(&gt;0.1)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역행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(≤0)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낮은 신뢰도의 상승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추세의 방향을 핵심 주체가 지지하지 않음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 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추세의 내부 동력이 약해지는 중으로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추격매수보다 리스크 관리 집중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상승 추세 약화 주의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부분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익절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658588"/>
                  </a:ext>
                </a:extLst>
              </a:tr>
              <a:tr h="44816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건강한 하락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하락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(&lt;-0.1)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동조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(&lt;0)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높은 신뢰도의 하락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추세의 방향을 핵심 주체가 지지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 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하락 압력이 강하고 지속될 확률이 높은 국면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매도 포지션 유지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추가 매도 검토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326590"/>
                  </a:ext>
                </a:extLst>
              </a:tr>
              <a:tr h="44816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의심스러운 하락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하락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(&lt;-0.1)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역행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(≥0)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낮은 신뢰도의 하락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추세의 방향을 핵심 주체가 지지하지 않음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 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하락 에너지가 소진되며 바닥을 형성하고 있을 가능성 존재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바닥권 접근 가능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매수 타이밍 관찰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494954"/>
                  </a:ext>
                </a:extLst>
              </a:tr>
              <a:tr h="44816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안정적 횡보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(||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≤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0.1)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낮음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(&lt;0)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동력 부재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추세도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에너지도 없는 소강상태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 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지표 발표 등 새로운 동력이 시장에 들어오는 것을 대기중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관망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소규모 구간매매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8543"/>
                  </a:ext>
                </a:extLst>
              </a:tr>
              <a:tr h="44816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불안한 횡보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(||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≤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0.1)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높음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(&gt;0)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에너지 축적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방향성은 없으나 변동성 에너지가 쌓이는 중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 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아직 행동할 때는 아니지만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곧 다가올 추세에 대비 필요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변동성매매 준비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b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돌파 대기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256242"/>
                  </a:ext>
                </a:extLst>
              </a:tr>
              <a:tr h="448168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특수신호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방향성전환 임박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(||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≤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0.1)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매우 높음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(&gt; 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에너지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임계점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도달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추세는 없으나 에너지가 극도로 응축되어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작은 충격에도 큰 방향성이 분출될 변곡점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방향 예측이 어려움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포지션 축소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돌파 방향 관찰 후 진입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4875631"/>
                  </a:ext>
                </a:extLst>
              </a:tr>
              <a:tr h="44816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탐욕 과열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강한 상승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(&gt; 0.7)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강한 매수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(&gt;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탐욕 과잉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추세와 핵심 주체의 방향이 강하게 일치한 과열 상태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 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추세의 마지막 에너지를 분출하는 국면일 가능성이 높음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과열 경계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분할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익절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467930"/>
                  </a:ext>
                </a:extLst>
              </a:tr>
              <a:tr h="44816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투매 과열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강한 하락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(&lt; -0.7)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강한 매도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(&lt; -2)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공포 심리 극대화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추세와 핵심 주체가 공포로 쏠린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과매도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상태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 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비이성적 투매가 종종 강력한 반등 기회를 제공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과매도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인식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반등 타이밍 관찰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8256317"/>
                  </a:ext>
                </a:extLst>
              </a:tr>
              <a:tr h="44816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내부 균열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추세와 강하게 역행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(MQS*FFM &lt; -0.5)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kern="12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신뢰도 붕괴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추세의 방향과 핵심 주체의 행태가 충돌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 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현재 추세가 동력을 잃고 있으며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역전될 가능성 높음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역추세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진입 준비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확인 후 포지션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902293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C5650D18-C1A9-4D7B-87DF-20081B9681A1}"/>
              </a:ext>
            </a:extLst>
          </p:cNvPr>
          <p:cNvSpPr/>
          <p:nvPr/>
        </p:nvSpPr>
        <p:spPr>
          <a:xfrm>
            <a:off x="381430" y="3619500"/>
            <a:ext cx="9140522" cy="8839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6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238125" y="134938"/>
            <a:ext cx="8543925" cy="703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Quantitative Analysis</a:t>
            </a:r>
            <a:endParaRPr lang="ko-KR" altLang="en-US" sz="3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2F795-32F9-C0D3-BEB1-264B764A7F9E}"/>
              </a:ext>
            </a:extLst>
          </p:cNvPr>
          <p:cNvSpPr txBox="1"/>
          <p:nvPr/>
        </p:nvSpPr>
        <p:spPr>
          <a:xfrm>
            <a:off x="276225" y="853588"/>
            <a:ext cx="76390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defTabSz="914400" latinLnBrk="1">
              <a:defRPr/>
            </a:pPr>
            <a:r>
              <a:rPr lang="ko-KR" altLang="en-US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횡보의 근본적인 원인 </a:t>
            </a:r>
            <a:r>
              <a:rPr lang="en-US" altLang="ko-KR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– </a:t>
            </a:r>
            <a:r>
              <a:rPr lang="ko-KR" altLang="en-US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국면 동력 </a:t>
            </a:r>
            <a:r>
              <a:rPr lang="en-US" altLang="ko-KR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(</a:t>
            </a:r>
            <a:r>
              <a:rPr lang="ko-KR" altLang="en-US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금리인하</a:t>
            </a:r>
            <a:r>
              <a:rPr lang="en-US" altLang="ko-KR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) </a:t>
            </a:r>
            <a:r>
              <a:rPr lang="ko-KR" altLang="en-US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소강</a:t>
            </a:r>
            <a:endParaRPr lang="en-US" altLang="ko-KR" sz="1400" b="1" spc="-62" dirty="0">
              <a:solidFill>
                <a:srgbClr val="7B401F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523F9E-7585-41F2-9224-5E8624880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1702"/>
            <a:ext cx="9906000" cy="46843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AF27DD-A4CC-40CC-B0B4-B8A98730365E}"/>
              </a:ext>
            </a:extLst>
          </p:cNvPr>
          <p:cNvSpPr txBox="1"/>
          <p:nvPr/>
        </p:nvSpPr>
        <p:spPr>
          <a:xfrm>
            <a:off x="161925" y="1288537"/>
            <a:ext cx="9157900" cy="278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Relative Hurst Index: </a:t>
            </a:r>
            <a:r>
              <a:rPr kumimoji="1" lang="ko-KR" altLang="en-US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금리인하기의 금리하락 모멘텀이 지속되는가 </a:t>
            </a:r>
            <a:r>
              <a:rPr kumimoji="1"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(&gt;0), </a:t>
            </a:r>
            <a:r>
              <a:rPr kumimoji="1" lang="ko-KR" altLang="en-US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그렇지 않은가</a:t>
            </a:r>
            <a:r>
              <a:rPr kumimoji="1"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(&lt;0) </a:t>
            </a:r>
            <a:r>
              <a:rPr kumimoji="1" lang="ko-KR" altLang="en-US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측정</a:t>
            </a:r>
            <a:endParaRPr kumimoji="1" lang="en-US" altLang="ko-KR" sz="11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A10D19-86E7-4E92-8D92-4223204A14BE}"/>
              </a:ext>
            </a:extLst>
          </p:cNvPr>
          <p:cNvSpPr/>
          <p:nvPr/>
        </p:nvSpPr>
        <p:spPr>
          <a:xfrm>
            <a:off x="2478024" y="1611702"/>
            <a:ext cx="5102352" cy="33077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931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238125" y="134938"/>
            <a:ext cx="8543925" cy="703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Quantitative Analysis</a:t>
            </a:r>
            <a:endParaRPr lang="ko-KR" altLang="en-US" sz="3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2F795-32F9-C0D3-BEB1-264B764A7F9E}"/>
              </a:ext>
            </a:extLst>
          </p:cNvPr>
          <p:cNvSpPr txBox="1"/>
          <p:nvPr/>
        </p:nvSpPr>
        <p:spPr>
          <a:xfrm>
            <a:off x="276225" y="853588"/>
            <a:ext cx="76390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defTabSz="914400" latinLnBrk="1">
              <a:defRPr/>
            </a:pPr>
            <a:r>
              <a:rPr lang="ko-KR" altLang="en-US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국고 </a:t>
            </a:r>
            <a:r>
              <a:rPr lang="en-US" altLang="ko-KR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3</a:t>
            </a:r>
            <a:r>
              <a:rPr lang="ko-KR" altLang="en-US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년</a:t>
            </a:r>
            <a:r>
              <a:rPr lang="en-US" altLang="ko-KR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, 10</a:t>
            </a:r>
            <a:r>
              <a:rPr lang="ko-KR" altLang="en-US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년 지표 및 진단 </a:t>
            </a:r>
            <a:r>
              <a:rPr lang="en-US" altLang="ko-KR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(2</a:t>
            </a:r>
            <a:r>
              <a:rPr lang="ko-KR" altLang="en-US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주</a:t>
            </a:r>
            <a:r>
              <a:rPr lang="en-US" altLang="ko-KR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) 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7868831-D8BB-4479-AD4A-4DCBB4F11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358791"/>
              </p:ext>
            </p:extLst>
          </p:nvPr>
        </p:nvGraphicFramePr>
        <p:xfrm>
          <a:off x="312357" y="1534668"/>
          <a:ext cx="9281285" cy="46952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107">
                  <a:extLst>
                    <a:ext uri="{9D8B030D-6E8A-4147-A177-3AD203B41FA5}">
                      <a16:colId xmlns:a16="http://schemas.microsoft.com/office/drawing/2014/main" val="354148699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351579162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404177327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1828362141"/>
                    </a:ext>
                  </a:extLst>
                </a:gridCol>
                <a:gridCol w="388556">
                  <a:extLst>
                    <a:ext uri="{9D8B030D-6E8A-4147-A177-3AD203B41FA5}">
                      <a16:colId xmlns:a16="http://schemas.microsoft.com/office/drawing/2014/main" val="14089121"/>
                    </a:ext>
                  </a:extLst>
                </a:gridCol>
                <a:gridCol w="744792">
                  <a:extLst>
                    <a:ext uri="{9D8B030D-6E8A-4147-A177-3AD203B41FA5}">
                      <a16:colId xmlns:a16="http://schemas.microsoft.com/office/drawing/2014/main" val="12545922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1492745346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329405751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71815859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3599361406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3665009969"/>
                    </a:ext>
                  </a:extLst>
                </a:gridCol>
                <a:gridCol w="878332">
                  <a:extLst>
                    <a:ext uri="{9D8B030D-6E8A-4147-A177-3AD203B41FA5}">
                      <a16:colId xmlns:a16="http://schemas.microsoft.com/office/drawing/2014/main" val="1608491172"/>
                    </a:ext>
                  </a:extLst>
                </a:gridCol>
                <a:gridCol w="1912618">
                  <a:extLst>
                    <a:ext uri="{9D8B030D-6E8A-4147-A177-3AD203B41FA5}">
                      <a16:colId xmlns:a16="http://schemas.microsoft.com/office/drawing/2014/main" val="4265888447"/>
                    </a:ext>
                  </a:extLst>
                </a:gridCol>
              </a:tblGrid>
              <a:tr h="143761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날짜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종목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MQS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MQS_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BVI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BVI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_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FFM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FFM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_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10-3_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스프레드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기간구조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종합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_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특수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_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추천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_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091394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2025-08-26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0.01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0.08 </a:t>
                      </a: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높은 변동성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1.08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0.438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Steepening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불안한 횡보 </a:t>
                      </a:r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증가</a:t>
                      </a:r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매매 준비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돌파 대기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00136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2025-08-27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0.01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0.31 </a:t>
                      </a: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높은 변동성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1.14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0.423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Steepening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불안한 횡보 </a:t>
                      </a:r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증가</a:t>
                      </a:r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매매 준비</a:t>
                      </a:r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돌파 대기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6082448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2025-08-28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0.01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0.27 </a:t>
                      </a: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높은 변동성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1.14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0.399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불안한 횡보 </a:t>
                      </a:r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증가</a:t>
                      </a:r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매매 준비</a:t>
                      </a:r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돌파 대기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3906491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2025-08-29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0.03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0.37 </a:t>
                      </a: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높은 변동성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1.07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0.389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불안한 횡보 </a:t>
                      </a:r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증가</a:t>
                      </a:r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매매 준비</a:t>
                      </a:r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돌파 대기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410846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2025-09-01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0.08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- 0.28 </a:t>
                      </a: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낮은 변동성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1.06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0.412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안정적 횡보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관망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소규모 구간 매매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8188759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2025-09-02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0.05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- 0.04 </a:t>
                      </a: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낮은 변동성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0.74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안정적 횡보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관망</a:t>
                      </a:r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소규모 구간 매매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306963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2025-09-03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0.27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약한 상승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0.79 </a:t>
                      </a: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높은 변동성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0.01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0.438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Steepening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약한 상승 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동조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신규 매수 진입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추세 강화 대기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9223524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2025-09-04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0.24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약한 상승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- 0.30 </a:t>
                      </a: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낮은 변동성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 0.21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매도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0.411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Steepening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약한 상승 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역행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신중한 접근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확인 후 진입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483850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2025-09-05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0.15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약한 상승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- 0.92 </a:t>
                      </a: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낮은 변동성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 0.19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0.395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Steepening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약한 상승 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역행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신중한 접근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확인 후 진입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329018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2025-09-08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0.13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약한 상승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- 0.47 </a:t>
                      </a: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낮은 변동성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 0.21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매도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약한 상승 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역행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신중한 접근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확인 후 진입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837266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2025-09-09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0.05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- 0.35 </a:t>
                      </a: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낮은 변동성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0.12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0.393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안정적 횡보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관망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소규모 구간 매매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275730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2025-09-10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0.01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0.60 </a:t>
                      </a: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높은 변동성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0.25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0.403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불안한 횡보 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증가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매매 준비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돌파 대기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6919046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2025-09-11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-0.00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0.92 </a:t>
                      </a: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높은 변동성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0.47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0.393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불안한 횡보 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증가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매매 준비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돌파 대기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122365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2025-09-12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-0.00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0.97 </a:t>
                      </a: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높은 변동성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0.66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0.382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불안한 횡보 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증가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매매 준비</a:t>
                      </a:r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돌파 대기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958784"/>
                  </a:ext>
                </a:extLst>
              </a:tr>
              <a:tr h="159811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2025-08-26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3Y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0.04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-1.34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매우 낮은 변동성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1.61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0.438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Steepening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안정적 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u="none" strike="noStrike" kern="120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관망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소규모 구간 매매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231087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2025-08-27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3Y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- 0.01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-0.71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낮은 변동성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1.67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0.423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Steepening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안정적 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u="none" strike="noStrike" kern="120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관망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소규모 구간 매매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918535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2025-08-28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3Y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- 0.02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-1.24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매우 낮은 변동성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1.75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0.399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안정적 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u="none" strike="noStrike" kern="120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관망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소규모 구간 매매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731958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2025-08-29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3Y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- 0.02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-1.47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매우 낮은 변동성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1.61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0.389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안정적 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u="none" strike="noStrike" kern="120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관망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소규모 구간 매매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1374679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2025-09-01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3Y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- 0.00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-0.43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낮은 변동성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2.01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대량 매수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0.412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안정적 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u="none" strike="noStrike" kern="120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관망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소규모 구간 매매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686373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2025-09-02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3Y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- 0.00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0.42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높은 변동성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1.67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0.42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불안한 횡보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증가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u="none" strike="noStrike" kern="120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매매 준비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돌파 대기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815922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2025-09-03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3Y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0.08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0.78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높은 변동성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0.88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0.438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Steepening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불안한 횡보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증가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u="none" strike="noStrike" kern="120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매매 준비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돌파 대기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66529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2025-09-04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3Y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0.10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-0.48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낮은 변동성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0.57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0.411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Steepening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안정적 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u="none" strike="noStrike" kern="120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관망</a:t>
                      </a:r>
                      <a:r>
                        <a:rPr lang="en-US" altLang="ko-KR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소규모 구간 매매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858899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2025-09-05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3Y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0.07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-1.60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매우 낮은 변동성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0.22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매수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0.395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Steepening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안정적 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관망</a:t>
                      </a:r>
                      <a:r>
                        <a:rPr lang="en-US" altLang="ko-KR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소규모 구간 매매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182161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2025-09-08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3Y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0.09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0.91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높은 변동성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-0.14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매도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불안한 횡보 </a:t>
                      </a:r>
                      <a:r>
                        <a:rPr lang="en-US" altLang="ko-KR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증가</a:t>
                      </a:r>
                      <a:r>
                        <a:rPr lang="en-US" altLang="ko-KR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매매 준비</a:t>
                      </a:r>
                      <a:r>
                        <a:rPr lang="en-US" altLang="ko-KR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돌파 대기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843550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2025-09-09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3Y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0.03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-0.52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낮은 변동성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-0.21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매도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0.393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안정적 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관망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소규모 구간 매매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0289993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2025-09-10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3Y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0.01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-1.28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매우 낮은 변동성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-0.12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매도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0.403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안정적 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관망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소규모 구간 매매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377240"/>
                  </a:ext>
                </a:extLst>
              </a:tr>
              <a:tr h="238401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2025-09-11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3Y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0.00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1.48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매우 높은 변동성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-0.13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매도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0.393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불안한 횡보 </a:t>
                      </a:r>
                      <a:r>
                        <a:rPr lang="en-US" altLang="ko-KR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변동성 증가</a:t>
                      </a:r>
                      <a:r>
                        <a:rPr lang="en-US" altLang="ko-KR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방향성 전환 임박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포지션 축소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돌파 방향 관찰 후 진입</a:t>
                      </a:r>
                      <a:b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리스크 관리 강화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780291"/>
                  </a:ext>
                </a:extLst>
              </a:tr>
              <a:tr h="159743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2025-09-12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3Y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- 0.01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-1.37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매우 낮은 변동성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-0.36 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외국인 매도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700" u="none" strike="noStrike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0.382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221" marR="4221" marT="42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Flattening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안정적 횡보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관망</a:t>
                      </a:r>
                      <a:r>
                        <a:rPr lang="en-US" altLang="ko-KR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소규모 구간 매매</a:t>
                      </a:r>
                    </a:p>
                  </a:txBody>
                  <a:tcPr marL="4617" marR="4617" marT="46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5546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931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238125" y="134938"/>
            <a:ext cx="8543925" cy="703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Quantitative Analysis</a:t>
            </a:r>
            <a:endParaRPr lang="ko-KR" altLang="en-US" sz="3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2F795-32F9-C0D3-BEB1-264B764A7F9E}"/>
              </a:ext>
            </a:extLst>
          </p:cNvPr>
          <p:cNvSpPr txBox="1"/>
          <p:nvPr/>
        </p:nvSpPr>
        <p:spPr>
          <a:xfrm>
            <a:off x="276225" y="853588"/>
            <a:ext cx="76390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defTabSz="914400" latinLnBrk="1">
              <a:defRPr/>
            </a:pPr>
            <a:r>
              <a:rPr lang="ko-KR" altLang="en-US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시장의 추세가 존재하는가</a:t>
            </a:r>
            <a:r>
              <a:rPr lang="en-US" altLang="ko-KR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? – MQS (Momentum Quality Score)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13535F-4A40-7DB2-0430-6611782429C4}"/>
              </a:ext>
            </a:extLst>
          </p:cNvPr>
          <p:cNvSpPr txBox="1"/>
          <p:nvPr/>
        </p:nvSpPr>
        <p:spPr>
          <a:xfrm>
            <a:off x="254911" y="1430924"/>
            <a:ext cx="9157900" cy="170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MQS (Momentum Quality Score)</a:t>
            </a: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정의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MQS =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방향성 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이동평균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x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명료도 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(R^2) x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효율성 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(ER) -1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≤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MQS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≤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목적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추세의 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순도‘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즉 현재 시장의 추세가 얼마나 뚜렷한 방향을 가지고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방향성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),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잡음 없이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효율성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),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일관되게 꾸준히 움직이는지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명료도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측정</a:t>
            </a:r>
            <a:endParaRPr kumimoji="1"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해석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-1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≤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MQS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≤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1, 0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 가까울수록 횡보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절대값이 클수록 강한 추세</a:t>
            </a:r>
            <a:endParaRPr kumimoji="1"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산출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</a:p>
          <a:p>
            <a:pPr marL="628650" lvl="1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방향성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단기 이동평균의 차이 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골든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데드크로스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방향 결정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Tanh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함수로 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-1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1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사이 값으로 변환</a:t>
            </a:r>
            <a:endParaRPr kumimoji="1"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628650" lvl="1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명료도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최근 금리의 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OLS R^2.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추세의 속도가 들쭉날쭉하지 않고 안정되고 일관될수록 값이 높음</a:t>
            </a:r>
            <a:endParaRPr kumimoji="1"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628650" lvl="1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효율성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효율성 비율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총금리변화량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일일금리변화량의합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),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헛걸음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되돌림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많지 않고 직선적으로 갈 수록 값이 높음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C60381E-7EF1-4D3B-8D8C-316557F90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31" y="3147668"/>
            <a:ext cx="4068699" cy="32268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1885790-3205-4AD1-B2F8-39A3D07E82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258" y="3148967"/>
            <a:ext cx="4067061" cy="3225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4845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238125" y="134938"/>
            <a:ext cx="8543925" cy="703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Quantitative Analysis</a:t>
            </a:r>
            <a:endParaRPr lang="ko-KR" altLang="en-US" sz="3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2F795-32F9-C0D3-BEB1-264B764A7F9E}"/>
              </a:ext>
            </a:extLst>
          </p:cNvPr>
          <p:cNvSpPr txBox="1"/>
          <p:nvPr/>
        </p:nvSpPr>
        <p:spPr>
          <a:xfrm>
            <a:off x="276225" y="853588"/>
            <a:ext cx="76390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defTabSz="914400" latinLnBrk="1">
              <a:defRPr/>
            </a:pPr>
            <a:r>
              <a:rPr lang="ko-KR" altLang="en-US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시장은 추세에 동의하는가</a:t>
            </a:r>
            <a:r>
              <a:rPr lang="en-US" altLang="ko-KR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? – FFM (Foreigner Flow Momentum)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13535F-4A40-7DB2-0430-6611782429C4}"/>
              </a:ext>
            </a:extLst>
          </p:cNvPr>
          <p:cNvSpPr txBox="1"/>
          <p:nvPr/>
        </p:nvSpPr>
        <p:spPr>
          <a:xfrm>
            <a:off x="254911" y="1430924"/>
            <a:ext cx="9157900" cy="129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FFM (Foreigner Flow Momentum)</a:t>
            </a: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정의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FFI =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참여자인 외인 선물 순매수의 방향과 강도를 나타내는 지표</a:t>
            </a:r>
            <a:endParaRPr kumimoji="1"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목적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:MQS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보여주는 가격 추세가 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스마트 머니＇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지지를 받는 건강한 추세인지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뒷받침 되지 않는 허약한 추세인지 검증</a:t>
            </a:r>
            <a:endParaRPr kumimoji="1"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해석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Z-score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변환하여 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0, +2,-2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기준으로 극단적상승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상승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극단적하락 판별</a:t>
            </a:r>
            <a:endParaRPr kumimoji="1"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산출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</a:p>
          <a:p>
            <a:pPr marL="628650" lvl="1" indent="-171450">
              <a:lnSpc>
                <a:spcPct val="120000"/>
              </a:lnSpc>
              <a:buFontTx/>
              <a:buChar char="-"/>
            </a:pP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 외인 순매수 누적 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60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 평균 외인 순매수 누적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)/ (60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 표준편차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972A31D-A512-452A-9130-38131FFAF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320" y="3148967"/>
            <a:ext cx="4013351" cy="3225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6B69E20-EF08-4147-AD26-8FC9639D4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840" y="3148967"/>
            <a:ext cx="4013351" cy="3225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79906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238125" y="134938"/>
            <a:ext cx="8543925" cy="703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Quantitative Analysis</a:t>
            </a:r>
            <a:endParaRPr lang="ko-KR" altLang="en-US" sz="3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2F795-32F9-C0D3-BEB1-264B764A7F9E}"/>
              </a:ext>
            </a:extLst>
          </p:cNvPr>
          <p:cNvSpPr txBox="1"/>
          <p:nvPr/>
        </p:nvSpPr>
        <p:spPr>
          <a:xfrm>
            <a:off x="276225" y="853588"/>
            <a:ext cx="76390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defTabSz="914400" latinLnBrk="1">
              <a:defRPr/>
            </a:pPr>
            <a:r>
              <a:rPr lang="ko-KR" altLang="en-US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시장은 얼마나 불안한가</a:t>
            </a:r>
            <a:r>
              <a:rPr lang="en-US" altLang="ko-KR" sz="1400" b="1" spc="-62" dirty="0">
                <a:solidFill>
                  <a:srgbClr val="7B401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? – BVI(Bond Volatility Index)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13535F-4A40-7DB2-0430-6611782429C4}"/>
              </a:ext>
            </a:extLst>
          </p:cNvPr>
          <p:cNvSpPr txBox="1"/>
          <p:nvPr/>
        </p:nvSpPr>
        <p:spPr>
          <a:xfrm>
            <a:off x="254911" y="1430924"/>
            <a:ext cx="9157900" cy="1497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BVI (Bond Volatility Index)</a:t>
            </a: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정의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채권 금리의 변동성 지표</a:t>
            </a:r>
            <a:endParaRPr kumimoji="1"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목적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추세 없는 횡보장이 동력을 상실한 소강 상태인지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아니면 다음 추세를 위한 에너지를 응축하는 중인지를 판별</a:t>
            </a:r>
            <a:endParaRPr kumimoji="1"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산출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(20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 수익률 표준편차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 x [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거래량 가중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 (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기초 변동성 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x (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당일 거래량 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20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 평균거래량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)) x [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위험도 가중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](1+0.5x(1-abs(MQS))]</a:t>
            </a:r>
            <a:b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	-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거래량 가중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낮은 거래량으로 인한 일시적 변동성 영향 축소</a:t>
            </a:r>
            <a:endParaRPr kumimoji="1" lang="en-US" altLang="ko-KR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20000"/>
              </a:lnSpc>
            </a:pP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위험도 가중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MQS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 가까운 횡보 국면일수록 변동성 점수 증폭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추세가 </a:t>
            </a:r>
            <a:r>
              <a:rPr kumimoji="1" lang="ko-KR" altLang="en-US"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강할때의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변동성은 자연스러운 흐름이나</a:t>
            </a:r>
            <a: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횡보의 변동성은 균열의 전조 가능성</a:t>
            </a:r>
            <a:br>
              <a:rPr kumimoji="1"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endParaRPr kumimoji="1" lang="en-US" altLang="ko-KR" sz="1100" u="sng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3E39916-C414-4EF3-B773-3F8DC956D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31" y="3148317"/>
            <a:ext cx="4013351" cy="3225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358BB9D-7C6D-4A59-B1E3-03428ED13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316" y="3148317"/>
            <a:ext cx="4013351" cy="3225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9137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Thin"/>
        <a:ea typeface="Pretendard Thin"/>
        <a:cs typeface=""/>
      </a:majorFont>
      <a:minorFont>
        <a:latin typeface="Calibri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13565</TotalTime>
  <Words>1771</Words>
  <Application>Microsoft Office PowerPoint</Application>
  <PresentationFormat>A4 용지(210x297mm)</PresentationFormat>
  <Paragraphs>491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Pretendard</vt:lpstr>
      <vt:lpstr>Pretendard ExtraBold</vt:lpstr>
      <vt:lpstr>Pretendard SemiBold</vt:lpstr>
      <vt:lpstr>Pretendard Thin</vt:lpstr>
      <vt:lpstr>맑은 고딕</vt:lpstr>
      <vt:lpstr>Arial</vt:lpstr>
      <vt:lpstr>Calibri</vt:lpstr>
      <vt:lpstr>1_Office 테마</vt:lpstr>
      <vt:lpstr>FI운용본부 Quantitative Analysis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Summary,</dc:title>
  <dc:creator>민영 박</dc:creator>
  <cp:lastModifiedBy>USER</cp:lastModifiedBy>
  <cp:revision>283</cp:revision>
  <cp:lastPrinted>2025-09-15T22:25:38Z</cp:lastPrinted>
  <dcterms:created xsi:type="dcterms:W3CDTF">2025-01-12T06:30:28Z</dcterms:created>
  <dcterms:modified xsi:type="dcterms:W3CDTF">2025-09-22T17:22:36Z</dcterms:modified>
</cp:coreProperties>
</file>